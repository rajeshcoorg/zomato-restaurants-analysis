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7" r:id="rId4"/>
    <p:sldId id="278" r:id="rId5"/>
    <p:sldId id="258" r:id="rId6"/>
    <p:sldId id="259" r:id="rId7"/>
    <p:sldId id="260" r:id="rId8"/>
    <p:sldId id="261" r:id="rId9"/>
    <p:sldId id="262" r:id="rId10"/>
    <p:sldId id="279" r:id="rId11"/>
    <p:sldId id="280" r:id="rId12"/>
    <p:sldId id="281" r:id="rId13"/>
    <p:sldId id="282" r:id="rId14"/>
    <p:sldId id="283" r:id="rId15"/>
    <p:sldId id="266" r:id="rId16"/>
    <p:sldId id="270" r:id="rId17"/>
    <p:sldId id="271" r:id="rId18"/>
    <p:sldId id="272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06" y="78"/>
      </p:cViewPr>
      <p:guideLst>
        <p:guide orient="horz" pos="213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90204" pitchFamily="34" charset="0"/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cs.google.com/spreadsheets/d/1efeRLEHvsvSHCHaZdJ2bsdbmigGfJ0h0/edit?usp=sharing&amp;ouid=106032375274056022459&amp;rtpof=true&amp;sd=tru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efeRLEHvsvSHCHaZdJ2bsdbmigGfJ0h0/edit?usp=sharing&amp;ouid=106032375274056022459&amp;rtpof=true&amp;sd=tru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485" y="3655695"/>
            <a:ext cx="9144000" cy="140663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Montserrat" panose="00000500000000000000" pitchFamily="2" charset="0"/>
                <a:cs typeface="Arial" panose="020B0604020202090204" pitchFamily="34" charset="0"/>
              </a:rPr>
              <a:t>ZOMATO RESTAURANT ANALYSIS</a:t>
            </a:r>
            <a:br>
              <a:rPr lang="en-US" sz="32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Montserrat" panose="00000500000000000000" pitchFamily="2" charset="0"/>
                <a:cs typeface="Arial" panose="020B0604020202090204" pitchFamily="34" charset="0"/>
              </a:rPr>
            </a:br>
            <a:endParaRPr lang="en-US" sz="32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Montserrat" panose="00000500000000000000" pitchFamily="2" charset="0"/>
              <a:cs typeface="Arial" panose="020B060402020209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085" y="4913630"/>
            <a:ext cx="11847195" cy="1791335"/>
          </a:xfrm>
        </p:spPr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“Data-Driven Insights &amp; Recommendations’’</a:t>
            </a:r>
          </a:p>
          <a:p>
            <a:endParaRPr lang="en-US" dirty="0">
              <a:latin typeface="Montserrat" panose="00000500000000000000" pitchFamily="2" charset="0"/>
            </a:endParaRPr>
          </a:p>
          <a:p>
            <a:r>
              <a:rPr lang="en-US" dirty="0">
                <a:latin typeface="Montserrat" panose="00000500000000000000" pitchFamily="2" charset="0"/>
              </a:rPr>
              <a:t>Mr.Rajesh M.M</a:t>
            </a:r>
          </a:p>
          <a:p>
            <a:r>
              <a:rPr lang="en-US" dirty="0">
                <a:latin typeface="Montserrat" panose="00000500000000000000" pitchFamily="2" charset="0"/>
              </a:rPr>
              <a:t>14/01/2026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zoma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211455"/>
            <a:ext cx="8438515" cy="3055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255" y="635"/>
            <a:ext cx="11177270" cy="1584325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  <a:latin typeface="Montserrat" panose="00000500000000000000" pitchFamily="2" charset="0"/>
              </a:rPr>
              <a:t>ABOUT ZOMATO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" y="1430655"/>
            <a:ext cx="12056745" cy="6036310"/>
          </a:xfrm>
        </p:spPr>
        <p:txBody>
          <a:bodyPr/>
          <a:lstStyle/>
          <a:p>
            <a:r>
              <a:rPr lang="en-US" altLang="en-US" sz="1600" b="1" dirty="0">
                <a:latin typeface="Montserrat" panose="020F0502020204030204" pitchFamily="2" charset="0"/>
                <a:cs typeface="Arial" panose="020B0604020202020204" pitchFamily="34" charset="0"/>
              </a:rPr>
              <a:t>Introduction:</a:t>
            </a:r>
          </a:p>
          <a:p>
            <a:r>
              <a:rPr lang="en-US" altLang="en-US" sz="1600" dirty="0">
                <a:latin typeface="Montserrat" panose="020F0502020204030204" pitchFamily="2" charset="0"/>
                <a:cs typeface="Arial" panose="020B0604020202020204" pitchFamily="34" charset="0"/>
              </a:rPr>
              <a:t>Did you know that over 65% of restaurant decisions today are influenced by digital platforms like Zomato?</a:t>
            </a:r>
          </a:p>
          <a:p>
            <a:endParaRPr lang="en-US" altLang="en-US" sz="1600" dirty="0">
              <a:latin typeface="Montserrat" panose="020F0502020204030204" pitchFamily="2" charset="0"/>
              <a:cs typeface="Arial" panose="020B0604020202020204" pitchFamily="34" charset="0"/>
            </a:endParaRPr>
          </a:p>
          <a:p>
            <a:r>
              <a:rPr lang="en-US" altLang="en-US" sz="1600" b="1" dirty="0">
                <a:latin typeface="Montserrat" panose="020F0502020204030204" pitchFamily="2" charset="0"/>
                <a:cs typeface="Arial" panose="020B0604020202020204" pitchFamily="34" charset="0"/>
              </a:rPr>
              <a:t>Project Context:</a:t>
            </a:r>
          </a:p>
          <a:p>
            <a:r>
              <a:rPr lang="en-US" altLang="en-US" sz="1600" dirty="0">
                <a:latin typeface="Montserrat" panose="020F0502020204030204" pitchFamily="2" charset="0"/>
                <a:cs typeface="Arial" panose="020B0604020202020204" pitchFamily="34" charset="0"/>
              </a:rPr>
              <a:t>Zomato operates in a highly competitive multi-country market with over 9,500 restaurants in its dataset. While demand is rising, not every city shows equal potential.</a:t>
            </a:r>
          </a:p>
          <a:p>
            <a:r>
              <a:rPr lang="en-US" altLang="en-US" sz="1600" dirty="0">
                <a:latin typeface="Montserrat" panose="020F0502020204030204" pitchFamily="2" charset="0"/>
                <a:cs typeface="Arial" panose="020B0604020202020204" pitchFamily="34" charset="0"/>
              </a:rPr>
              <a:t>Understanding where to expand, which markets are saturated, and which cities show promising customer engagement.</a:t>
            </a:r>
          </a:p>
          <a:p>
            <a:endParaRPr lang="en-US" altLang="en-US" sz="1600" dirty="0">
              <a:latin typeface="Montserrat" panose="020F0502020204030204" pitchFamily="2" charset="0"/>
              <a:cs typeface="Arial" panose="020B0604020202020204" pitchFamily="34" charset="0"/>
            </a:endParaRPr>
          </a:p>
          <a:p>
            <a:r>
              <a:rPr lang="en-US" altLang="en-US" sz="1600" b="1" dirty="0">
                <a:latin typeface="Montserrat" panose="020F0502020204030204" pitchFamily="2" charset="0"/>
                <a:cs typeface="Arial" panose="020B0604020202020204" pitchFamily="34" charset="0"/>
              </a:rPr>
              <a:t>Project Objectives:</a:t>
            </a:r>
          </a:p>
          <a:p>
            <a:r>
              <a:rPr lang="en-US" altLang="en-US" sz="1600" dirty="0">
                <a:latin typeface="Montserrat" panose="020F0502020204030204" pitchFamily="2" charset="0"/>
                <a:cs typeface="Arial" panose="020B0604020202020204" pitchFamily="34" charset="0"/>
              </a:rPr>
              <a:t>Identify high-potential cities for new restaurant openings using data-driven scoring methods.</a:t>
            </a:r>
          </a:p>
          <a:p>
            <a:r>
              <a:rPr lang="en-US" altLang="en-US" sz="1600" dirty="0">
                <a:latin typeface="Montserrat" panose="020F0502020204030204" pitchFamily="2" charset="0"/>
                <a:cs typeface="Arial" panose="020B0604020202020204" pitchFamily="34" charset="0"/>
              </a:rPr>
              <a:t>Analyze market trends in ratings, cost, competition, and customer engagement.</a:t>
            </a:r>
          </a:p>
          <a:p>
            <a:r>
              <a:rPr lang="en-US" altLang="en-US" sz="1600" dirty="0">
                <a:latin typeface="Montserrat" panose="020F0502020204030204" pitchFamily="2" charset="0"/>
                <a:cs typeface="Arial" panose="020B0604020202020204" pitchFamily="34" charset="0"/>
              </a:rPr>
              <a:t>Highlight top opportunities through interactive dashboards, KPIs, and pivot-based insights.</a:t>
            </a:r>
          </a:p>
          <a:p>
            <a:pPr marL="0" indent="0">
              <a:buNone/>
            </a:pPr>
            <a:endParaRPr lang="en-US" altLang="en-US" sz="1800" dirty="0"/>
          </a:p>
        </p:txBody>
      </p:sp>
      <p:pic>
        <p:nvPicPr>
          <p:cNvPr id="6" name="Picture 5" descr="Zomato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855" y="-13335"/>
            <a:ext cx="3859530" cy="15989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013" y="245660"/>
            <a:ext cx="11350387" cy="588050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Analyze Zomato’s restaurant data across multiple countries.</a:t>
            </a:r>
          </a:p>
          <a:p>
            <a:pPr marL="0" indent="0">
              <a:buNone/>
            </a:pP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Identify high-potential countries and cities for new restaurant openings.</a:t>
            </a:r>
          </a:p>
          <a:p>
            <a:pPr marL="0" indent="0">
              <a:buNone/>
            </a:pP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Provide data-backed recommendations on pricing, cuisines, and services.</a:t>
            </a:r>
          </a:p>
          <a:p>
            <a:endParaRPr lang="en-US" dirty="0"/>
          </a:p>
        </p:txBody>
      </p:sp>
      <p:pic>
        <p:nvPicPr>
          <p:cNvPr id="4" name="Content Placeholder 3" descr="1_Tevnc38WMxx4eC0TdTAr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7951"/>
            <a:ext cx="12192635" cy="45987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95885"/>
            <a:ext cx="1252347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                    </a:t>
            </a:r>
            <a:r>
              <a:rPr lang="en-US" sz="2800" dirty="0">
                <a:solidFill>
                  <a:srgbClr val="FF0000"/>
                </a:solidFill>
                <a:latin typeface="Montserrat" panose="00000500000000000000" pitchFamily="2" charset="0"/>
              </a:rPr>
              <a:t>Problem Statement &amp; Business Need </a:t>
            </a:r>
          </a:p>
          <a:p>
            <a:endParaRPr lang="en-US" sz="4000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Business Context:</a:t>
            </a:r>
          </a:p>
          <a:p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• Zomato operates across multiple countries with diverse restaurant markets.</a:t>
            </a:r>
          </a:p>
          <a:p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• Expansion decisions require identifying high-potential, low-competition locations.</a:t>
            </a:r>
          </a:p>
          <a:p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Problem: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• Lack of clarity on where to expand, what cuisines to focus on, and how pricing affects demand.</a:t>
            </a:r>
          </a:p>
          <a:p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Goal: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• Use data to support smart, low-risk restaurant expansion decisions.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5719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Montserrat" panose="00000500000000000000" pitchFamily="2" charset="0"/>
              </a:rPr>
              <a:t>Data Overview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8540" y="642069"/>
            <a:ext cx="11953460" cy="6215931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•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Total restaurants: 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9,551.</a:t>
            </a:r>
          </a:p>
          <a:p>
            <a:pPr marL="0" indent="0">
              <a:buNone/>
            </a:pPr>
            <a:endParaRPr 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Countries covered: 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15.</a:t>
            </a:r>
          </a:p>
          <a:p>
            <a:pPr marL="0" indent="0">
              <a:buNone/>
            </a:pPr>
            <a:endParaRPr 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Key fields: 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Country, City, Cuisines, Price Range, Rating, Votes, Online Delivery, Table Booking.</a:t>
            </a:r>
          </a:p>
          <a:p>
            <a:pPr marL="0" indent="0">
              <a:buNone/>
            </a:pPr>
            <a:endParaRPr 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Data Cleaning:</a:t>
            </a:r>
          </a:p>
          <a:p>
            <a:pPr lvl="0"/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Removed unwanted spaces using TRIM().</a:t>
            </a:r>
          </a:p>
          <a:p>
            <a:pPr lvl="0"/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Standardized Yes/No columns →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TRUE/FALSE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.</a:t>
            </a:r>
          </a:p>
          <a:p>
            <a:pPr lvl="0"/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Corrected inconsistent format and spelling errors using Find and Replace in City column.</a:t>
            </a:r>
          </a:p>
          <a:p>
            <a:pPr lvl="0"/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Converted Datekey_Opening into proper dates.</a:t>
            </a:r>
          </a:p>
          <a:p>
            <a:pPr lvl="0"/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Extracted Year from cleaned dates.</a:t>
            </a:r>
          </a:p>
          <a:p>
            <a:pPr lvl="0"/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Filled blank cuisines with "Unknown".</a:t>
            </a:r>
          </a:p>
          <a:p>
            <a:pPr lvl="0"/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Normalized currency types.</a:t>
            </a:r>
          </a:p>
          <a:p>
            <a:pPr lvl="0"/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Mapped Country Codes using VLOOKUP.</a:t>
            </a:r>
          </a:p>
          <a:p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Handled inconsistent formats (e.g., text numbers → numeric).</a:t>
            </a:r>
          </a:p>
          <a:p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35"/>
            <a:ext cx="12192000" cy="449939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Montserrat" panose="00000500000000000000" pitchFamily="2" charset="0"/>
              </a:rPr>
              <a:t>Methodology &amp; Approach</a:t>
            </a:r>
            <a:endParaRPr lang="en-US" sz="3200" b="1" dirty="0">
              <a:solidFill>
                <a:srgbClr val="FF0000"/>
              </a:solidFill>
              <a:latin typeface="Montserrat" panose="00000500000000000000" pitchFamily="2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70" y="450850"/>
            <a:ext cx="11955780" cy="6407150"/>
          </a:xfrm>
        </p:spPr>
        <p:txBody>
          <a:bodyPr/>
          <a:lstStyle/>
          <a:p>
            <a:endParaRPr lang="en-US" altLang="en-US" sz="1800" b="1" dirty="0">
              <a:cs typeface="+mn-lt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Dataset Summary:</a:t>
            </a: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Total Records</a:t>
            </a: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: 9,551 restaurants across multiple countries.</a:t>
            </a: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Key Attributes Used</a:t>
            </a: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:City, Country Code, Rating, Votes, Average Cost for Two Cuisines, Online Delivery, Table Booking,Price Range,Opening Year.</a:t>
            </a:r>
          </a:p>
          <a:p>
            <a:endParaRPr lang="en-US" altLang="en-US" sz="1600" b="1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Data Cleaning &amp; Preprocessing: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Standardized dates (converted YYYY_M_D to valid date format).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Normalized currency and mapped country names using LOOKUP.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Converted boolean-like fields (Yes/No) into TRUE/FALSE for consistency.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Removed or handled missing entries in Cuisines, Cost, and Rating.</a:t>
            </a:r>
          </a:p>
          <a:p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Ensured proper data types: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Numeric: Votes, Cost, Price Range.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Categorical: City, Country, Cuisines.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Boolean: Delivery, Booking.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Date: Opening year extracted from DateKey.</a:t>
            </a:r>
          </a:p>
          <a:p>
            <a:endParaRPr lang="en-US" altLang="en-US" sz="1800" dirty="0">
              <a:cs typeface="+mn-lt"/>
            </a:endParaRPr>
          </a:p>
        </p:txBody>
      </p:sp>
      <p:pic>
        <p:nvPicPr>
          <p:cNvPr id="5" name="Picture 4" descr="f8507b0eb5996ea3518225c9591caa31f524135b-2942x18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460" y="1832610"/>
            <a:ext cx="3971290" cy="2504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8150"/>
            <a:ext cx="11023600" cy="226695"/>
          </a:xfrm>
        </p:spPr>
        <p:txBody>
          <a:bodyPr/>
          <a:lstStyle/>
          <a:p>
            <a:r>
              <a:rPr lang="en-US" altLang="en-US" sz="3200" dirty="0">
                <a:solidFill>
                  <a:srgbClr val="FF0000"/>
                </a:solidFill>
                <a:latin typeface="Montserrat" panose="00000500000000000000" pitchFamily="2" charset="0"/>
                <a:sym typeface="+mn-ea"/>
              </a:rPr>
              <a:t>     Analytical Approach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1851"/>
            <a:ext cx="12073255" cy="6541770"/>
          </a:xfrm>
        </p:spPr>
        <p:txBody>
          <a:bodyPr/>
          <a:lstStyle/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Analytical Approach: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Our analysis followed a structured, step-by-step methodology to ensure accuracy, consistency, and meaningful insights from the Zomato dataset.</a:t>
            </a: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Data Cleaning: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Fixed inconsistent formats (dates, currencies, cuisines).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Standardized data types (numeric, categorical, boolean, date).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Added country names using VLOOKUP.</a:t>
            </a: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Data Enrichment: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Extracted Opening Year from DateKey.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Normalized metrics.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Final Expansion Score.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Analysis Techniques:</a:t>
            </a: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Applied functions: IF, AVERAGEIF, COUNTIF, AND/OR, IFERROR, IFNA.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Applied ARRAYFORMULA, UNIQUE, and FILTER for automation.</a:t>
            </a:r>
            <a:endParaRPr lang="en-US" altLang="en-US" sz="1600" b="1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Visualization:</a:t>
            </a: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Pivot charts.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Slicers.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KPI cards.</a:t>
            </a:r>
          </a:p>
          <a:p>
            <a:pPr marL="0" indent="0">
              <a:buFont typeface="Arial" panose="020B0604020202090204" pitchFamily="34" charset="0"/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Conditional formatting to highlight key cities</a:t>
            </a:r>
            <a:r>
              <a:rPr lang="en-US" altLang="en-US" sz="16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4" name="Picture 3" descr="dataclea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849" y="1455862"/>
            <a:ext cx="2830195" cy="2266315"/>
          </a:xfrm>
          <a:prstGeom prst="rect">
            <a:avLst/>
          </a:prstGeom>
        </p:spPr>
      </p:pic>
      <p:pic>
        <p:nvPicPr>
          <p:cNvPr id="5" name="Picture 4" descr="VLOOK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256" y="1455862"/>
            <a:ext cx="1995805" cy="2266315"/>
          </a:xfrm>
          <a:prstGeom prst="rect">
            <a:avLst/>
          </a:prstGeom>
        </p:spPr>
      </p:pic>
      <p:pic>
        <p:nvPicPr>
          <p:cNvPr id="6" name="Picture 5" descr="1_VtpA-Z52AYQIU2H0jDiAB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649" y="4396187"/>
            <a:ext cx="3117215" cy="2159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0" y="195470"/>
            <a:ext cx="12192635" cy="2216426"/>
          </a:xfrm>
        </p:spPr>
        <p:txBody>
          <a:bodyPr/>
          <a:lstStyle/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Insights: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India shows the highest concentration of restaurants, significantly ahead of other countries.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UAE, Turkey, and Brazil follow with moderate presence.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Several countries show minimal representation, indicating lower platform penetration or smaller markets.</a:t>
            </a: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Takeaway:</a:t>
            </a: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The platform’s activity is heavily concentrated in a few key regions, helping us identify markets with strong   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  demand versus those with lower engagement..</a:t>
            </a:r>
          </a:p>
          <a:p>
            <a:endParaRPr lang="en-US" altLang="en-US" sz="1600" dirty="0">
              <a:latin typeface="Montserrat" panose="00000500000000000000" pitchFamily="2" charset="0"/>
            </a:endParaRPr>
          </a:p>
          <a:p>
            <a:endParaRPr lang="en-US" altLang="en-US" sz="1600" dirty="0">
              <a:latin typeface="Montserrat" panose="00000500000000000000" pitchFamily="2" charset="0"/>
            </a:endParaRPr>
          </a:p>
          <a:p>
            <a:endParaRPr lang="en-US" altLang="en-US" sz="1600" dirty="0">
              <a:latin typeface="Montserrat" panose="00000500000000000000" pitchFamily="2" charset="0"/>
            </a:endParaRPr>
          </a:p>
          <a:p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endParaRPr lang="en-US" altLang="en-US" sz="1800" dirty="0"/>
          </a:p>
        </p:txBody>
      </p:sp>
      <p:pic>
        <p:nvPicPr>
          <p:cNvPr id="11" name="Picture 10" descr="Restaurants per Coun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026" y="2716695"/>
            <a:ext cx="8375374" cy="40419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180832"/>
            <a:ext cx="12192635" cy="5257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/>
              <a:t>  </a:t>
            </a:r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Insights: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Steady growth in restaurant openings over the years.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Clear upward trend showing increased adoption of the platform.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• A few years show a spike, indicating rapid expansion phases.</a:t>
            </a:r>
          </a:p>
          <a:p>
            <a:pPr marL="0" indent="0">
              <a:buNone/>
            </a:pP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Takeaway: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The year-over-year growth pattern highlights strong market expansion and growing platform relevance for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dining and food delivery businesses.</a:t>
            </a:r>
          </a:p>
        </p:txBody>
      </p:sp>
      <p:pic>
        <p:nvPicPr>
          <p:cNvPr id="4" name="Picture 3" descr="COUNT of RestaurantID vs. Ye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82" y="3068329"/>
            <a:ext cx="9183757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1995"/>
            <a:ext cx="11486515" cy="2302179"/>
          </a:xfrm>
        </p:spPr>
        <p:txBody>
          <a:bodyPr/>
          <a:lstStyle/>
          <a:p>
            <a:pPr>
              <a:buFont typeface="Arial" panose="020B0604020202090204" pitchFamily="34" charset="0"/>
              <a:buChar char="•"/>
            </a:pP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Insights:</a:t>
            </a:r>
          </a:p>
          <a:p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Some countries like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Philippines, Indonesia , and New Zealand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have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higher average ratings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, showing strong customer satisfaction.</a:t>
            </a:r>
          </a:p>
          <a:p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High-restaurant countries such as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India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have good ratings but also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higher competition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Takeaway:</a:t>
            </a:r>
          </a:p>
          <a:p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Higher-rated countries with fewer restaurants offer the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best expansion potential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, as they combine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strong customer experience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with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lower competitive pressure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.</a:t>
            </a:r>
          </a:p>
          <a:p>
            <a:endParaRPr lang="en-US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713" y="3040987"/>
            <a:ext cx="8905461" cy="353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9026"/>
            <a:ext cx="12192000" cy="2329072"/>
          </a:xfrm>
        </p:spPr>
        <p:txBody>
          <a:bodyPr/>
          <a:lstStyle/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Insights: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Countries like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UK, USA, and Singapore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show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higher average food costs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, reflecting higher spending capacity.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Markets such as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India and Sri Lanka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have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lower cost levels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, indicating stronger price sensitivity.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There is a clear gap between premium and budget markets, helping identify positioning strategy.</a:t>
            </a:r>
          </a:p>
          <a:p>
            <a:endParaRPr 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Takeaway: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Understanding INR-adjusted costs helps identify where to launch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premium outlets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(high-cost countries) and where to focus on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value pricing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(lower-cost markets).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600" dirty="0"/>
          </a:p>
        </p:txBody>
      </p:sp>
      <p:pic>
        <p:nvPicPr>
          <p:cNvPr id="5" name="Picture 4" descr="Average Cost for Two (Converted to INR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43" y="2847147"/>
            <a:ext cx="9528314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905"/>
            <a:ext cx="11979910" cy="2268496"/>
          </a:xfrm>
        </p:spPr>
        <p:txBody>
          <a:bodyPr/>
          <a:lstStyle/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Insights: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Countries like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Philippines and New Zealand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show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higher average voter counts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, indicating strong customer</a:t>
            </a:r>
          </a:p>
          <a:p>
            <a:pPr marL="0" indent="0">
              <a:buNone/>
            </a:pP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engagement and higher platform usage.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• High voter counts generally align with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dense, digitally active markets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Takeaway: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Countries with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higher voter participation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show stronger customer engagement, making them ideal for expansion with strong marketing and digital outreach.</a:t>
            </a:r>
          </a:p>
          <a:p>
            <a:endParaRPr 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74506"/>
            <a:ext cx="9104244" cy="299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82" y="248480"/>
            <a:ext cx="12099235" cy="2441711"/>
          </a:xfrm>
        </p:spPr>
        <p:txBody>
          <a:bodyPr/>
          <a:lstStyle/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Insights: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North Indian, Chinese, and Fast Food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appear most frequently, showing strong and consistent customer  </a:t>
            </a:r>
          </a:p>
          <a:p>
            <a:pPr marL="0" indent="0">
              <a:buNone/>
            </a:pP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demand.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• Popularity also extends to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Italian, Bakery, and Continental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, reflecting a preference for diverse, multi-cuisine </a:t>
            </a:r>
          </a:p>
          <a:p>
            <a:pPr marL="0" indent="0">
              <a:buNone/>
            </a:pP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offerings.</a:t>
            </a:r>
          </a:p>
          <a:p>
            <a:endParaRPr 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Takeaway: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Focusing on the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top-performing cuisines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increases the chances of customer acceptance in new markets and supports a strong launch strategy for upcoming restaurants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876" y="3180522"/>
            <a:ext cx="7580245" cy="34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861"/>
            <a:ext cx="11794435" cy="2941982"/>
          </a:xfrm>
        </p:spPr>
        <p:txBody>
          <a:bodyPr/>
          <a:lstStyle/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Insights: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Online delivery is far more widely available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than table booking across most restaurants.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• Table booking is offered only by a smaller share of restaurants, mostly in premium or high-traffic areas.</a:t>
            </a:r>
          </a:p>
          <a:p>
            <a:endParaRPr 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Takeaway:</a:t>
            </a:r>
            <a:b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</a:b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Online delivery should be a </a:t>
            </a:r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primary focus</a:t>
            </a:r>
            <a:r>
              <a:rPr 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for expansion, as it aligns with customer preferences and boosts visibility—while table booking can be added selectively for premium or dine-in–heavy regions.</a:t>
            </a:r>
          </a:p>
          <a:p>
            <a:endParaRPr lang="en-US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16777"/>
            <a:ext cx="8428383" cy="336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669290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FF0000"/>
                </a:solidFill>
                <a:latin typeface="Montserrat" panose="00000500000000000000" pitchFamily="2" charset="0"/>
                <a:cs typeface="Arial" panose="020B0604020202090204" pitchFamily="34" charset="0"/>
              </a:rPr>
              <a:t>Strategic Recommendation: Market Entry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44245"/>
            <a:ext cx="12192000" cy="5913120"/>
          </a:xfrm>
        </p:spPr>
        <p:txBody>
          <a:bodyPr/>
          <a:lstStyle/>
          <a:p>
            <a:endParaRPr lang="en-US" altLang="en-US" sz="1600" b="1" dirty="0">
              <a:latin typeface="Montserrat" panose="00000500000000000000" pitchFamily="2" charset="0"/>
              <a:cs typeface="Arial" panose="020B0604020202090204" pitchFamily="34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90204" pitchFamily="34" charset="0"/>
              </a:rPr>
              <a:t>Recommendation: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       • Adopt a Tiered Expansion Approach: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       • Tier 1 (Immediate Expansion): Cities with strong ratings + affordable costs Colombo, Doha, Jakarta.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       • Tier 2 (Secondary Expansion): High potential but premium-priced markets Auckland, Wellington.</a:t>
            </a:r>
          </a:p>
          <a:p>
            <a:pPr marL="0" indent="0">
              <a:buNone/>
            </a:pPr>
            <a:endParaRPr lang="en-US" altLang="en-US" sz="1600" dirty="0">
              <a:latin typeface="Montserrat" panose="00000500000000000000" pitchFamily="2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600" b="1" dirty="0">
                <a:latin typeface="Montserrat" panose="00000500000000000000" pitchFamily="2" charset="0"/>
                <a:cs typeface="Arial" panose="020B0604020202090204" pitchFamily="34" charset="0"/>
              </a:rPr>
              <a:t> Why This Strategy Works: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       • Reduces financial risk by entering proven markets first.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       • Allows brand to establish a footprint before entering premium regions.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       • Ensures sequential rollout based on real performance.</a:t>
            </a:r>
          </a:p>
          <a:p>
            <a:pPr marL="0" indent="0">
              <a:buNone/>
            </a:pPr>
            <a:endParaRPr lang="en-US" altLang="en-US" sz="1600" dirty="0">
              <a:latin typeface="Montserrat" panose="00000500000000000000" pitchFamily="2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90204" pitchFamily="34" charset="0"/>
              </a:rPr>
              <a:t>Expected Impact: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       • Faster break-even in Tier 1 markets.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       • Strong brand presence before entering Tier 2 markets.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       • Better long-term regional diversification.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10972800" cy="268384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FF0000"/>
                </a:solidFill>
                <a:latin typeface="Montserrat" panose="00000500000000000000" pitchFamily="2" charset="0"/>
                <a:cs typeface="Arial" panose="020B0604020202090204" pitchFamily="34" charset="0"/>
              </a:rPr>
              <a:t>Dashboard &amp; Key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1225"/>
            <a:ext cx="12192000" cy="59467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</a:rPr>
              <a:t>	• </a:t>
            </a: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The dashboard consolidates restaurant distribution, customer preferences, rating patterns, and market 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           scoring in a single view.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Year-wise slicer helps identify growth trends and seasonality in openings.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Scorecards highlight quick metrics such as Total Restaurants, Avg Rating, Avg Cost, Online Delivery %.</a:t>
            </a:r>
          </a:p>
          <a:p>
            <a:pPr marL="0" indent="0">
              <a:buNone/>
            </a:pP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 </a:t>
            </a:r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️ Key Interactive Features: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Slicers/Filters: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Year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Country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Price Range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Online Delivery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These slicers dynamically update charts and KPIs to support faster decision-making.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</a:t>
            </a: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  Why This Dashboard Matters: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Makes complex data easy to digest at a glance.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Helps leadership quickly identify.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Expansion-ready markets.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High-performance cuisines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sz="1800" dirty="0"/>
              <a:t>	</a:t>
            </a:r>
          </a:p>
          <a:p>
            <a:pPr marL="0" indent="0">
              <a:buNone/>
            </a:pPr>
            <a:r>
              <a:rPr lang="en-US" altLang="en-US" sz="1800" dirty="0"/>
              <a:t>	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635" y="6573077"/>
            <a:ext cx="10972800" cy="190657"/>
          </a:xfrm>
        </p:spPr>
        <p:txBody>
          <a:bodyPr/>
          <a:lstStyle/>
          <a:p>
            <a:br>
              <a:rPr lang="en-US" altLang="en-US" dirty="0"/>
            </a:br>
            <a:r>
              <a:rPr lang="en-US" altLang="en-US" sz="1800" b="1" dirty="0"/>
              <a:t>Interactive Dashboard (Google Sheets):</a:t>
            </a:r>
            <a:br>
              <a:rPr lang="en-US" altLang="en-US" sz="1800" b="1" dirty="0"/>
            </a:br>
            <a:r>
              <a:rPr lang="en-US" altLang="en-US" sz="1800" dirty="0">
                <a:hlinkClick r:id="rId2"/>
              </a:rPr>
              <a:t>https://docs.google.com/spreadsheets/d/1efeRLEHvsvSHCHaZdJ2bsdbmigGfJ0h0/edit?usp=sharing&amp;ouid=106032375274056022459&amp;rtpof=true&amp;sd=true</a:t>
            </a:r>
            <a:br>
              <a:rPr lang="en-US" altLang="en-US" sz="1800" dirty="0"/>
            </a:br>
            <a:br>
              <a:rPr lang="en-US" altLang="en-US" b="1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6E8C38-12AD-AB6B-56AF-8F49DA0C5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4" y="94266"/>
            <a:ext cx="12117126" cy="5612261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39" y="306069"/>
            <a:ext cx="10972800" cy="327025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  <a:cs typeface="Arial" panose="020B060402020209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15365"/>
            <a:ext cx="12192000" cy="5842635"/>
          </a:xfrm>
        </p:spPr>
        <p:txBody>
          <a:bodyPr/>
          <a:lstStyle/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Key Takeaways: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• The data reveals clear opportunities in countries with low restaurant density and strong customer engagement.</a:t>
            </a:r>
          </a:p>
          <a:p>
            <a:pPr marL="0" indent="0">
              <a:buNone/>
            </a:pP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• Cities like Colombo, Doha, Jakarta, Auckland, and Wellington emerge as the most promising for expansion 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based on ratings,cost structure, and competition level.</a:t>
            </a:r>
          </a:p>
          <a:p>
            <a:pPr marL="0" indent="0">
              <a:buNone/>
            </a:pP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• Customer preferences strongly favor mid-range pricing, popular cuisines such as Fast Food, Indian,Continental,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and restaurants offering online delivery.</a:t>
            </a:r>
          </a:p>
          <a:p>
            <a:pPr marL="0" indent="0">
              <a:buNone/>
            </a:pP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Implications for Business:</a:t>
            </a: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• Entering the identified markets gives the company a competitive first-mover advantage.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• A structured expansion roadmap ensures scalable growth across multiple geographies.</a:t>
            </a:r>
          </a:p>
          <a:p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Final Statement: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This analysis empowers the organization with clear, data-backed insights to make confident expansion decisions.</a:t>
            </a:r>
          </a:p>
          <a:p>
            <a:pPr>
              <a:buFont typeface="Arial" panose="020B0604020202090204" pitchFamily="34" charset="0"/>
              <a:buChar char="•"/>
            </a:pP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By combining market potential, customer behavior, and operational factors, we have identified a strategic path 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for long-term, sustainable growth</a:t>
            </a:r>
            <a:r>
              <a:rPr lang="en-US" altLang="en-US" sz="1600" dirty="0">
                <a:latin typeface="Montserrat" panose="00000500000000000000" pitchFamily="2" charset="0"/>
                <a:cs typeface="+mn-lt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800" cy="549910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FF0000"/>
                </a:solidFill>
                <a:latin typeface="Montserrat" panose="00000500000000000000" pitchFamily="2" charset="0"/>
                <a:cs typeface="Arial" panose="020B0604020202090204" pitchFamily="34" charset="0"/>
              </a:rPr>
              <a:t>Acknowledgements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956310"/>
            <a:ext cx="12193270" cy="5901690"/>
          </a:xfrm>
        </p:spPr>
        <p:txBody>
          <a:bodyPr/>
          <a:lstStyle/>
          <a:p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Acknowledgements: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I extend my sincere thanks to the training faculty and mentors for their continuous support, guidance, and 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           domain insights throughout this project.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Special appreciation to the data analytics program team, whose structured learning modules enabled the 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           completion of this end-to-end analysis.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Gratitude to all peers and collaborators who contributed with feedback, suggestions, and knowledge- 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                  sharing during the execution of this project.</a:t>
            </a:r>
          </a:p>
          <a:p>
            <a:pPr marL="0" indent="0">
              <a:buNone/>
            </a:pP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 </a:t>
            </a:r>
            <a:r>
              <a:rPr lang="en-US" altLang="en-US" sz="1600" b="1" dirty="0">
                <a:latin typeface="Montserrat" panose="00000500000000000000" pitchFamily="2" charset="0"/>
                <a:cs typeface="Arial" panose="020B0604020202020204" pitchFamily="34" charset="0"/>
              </a:rPr>
              <a:t>References:</a:t>
            </a:r>
            <a:endParaRPr lang="en-US" altLang="en-US" sz="1600" dirty="0"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Dataset source: Zomato Restaurant Dataset (Provided by Newton School / Course Material)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Visualization techniques and design inspiration: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Function documentation and best practices: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Google Sheets Function Reference — https://support.google.com/docs/</a:t>
            </a:r>
          </a:p>
          <a:p>
            <a:pPr marL="0" indent="0">
              <a:buNone/>
            </a:pPr>
            <a:r>
              <a:rPr lang="en-US" altLang="en-US" sz="1600" dirty="0">
                <a:latin typeface="Montserrat" panose="00000500000000000000" pitchFamily="2" charset="0"/>
                <a:cs typeface="Arial" panose="020B0604020202020204" pitchFamily="34" charset="0"/>
              </a:rPr>
              <a:t>	• Online restaurant and food delivery trend reports (Statista &amp; Public Market Reports).</a:t>
            </a:r>
          </a:p>
          <a:p>
            <a:pPr marL="0" indent="0">
              <a:buNone/>
            </a:pPr>
            <a:endParaRPr lang="en-US" altLang="en-US" sz="1800" dirty="0"/>
          </a:p>
          <a:p>
            <a:r>
              <a:rPr lang="en-US" altLang="en-US" sz="1800" b="1" dirty="0"/>
              <a:t>Interactive Dashboard (Google Sheets):</a:t>
            </a:r>
          </a:p>
          <a:p>
            <a:r>
              <a:rPr lang="en-US" altLang="en-US" sz="1800" dirty="0">
                <a:hlinkClick r:id="rId2"/>
              </a:rPr>
              <a:t>https://docs.google.com/spreadsheets/d/1efeRLEHvsvSHCHaZdJ2bsdbmigGfJ0h0/edit?usp=sharing&amp;ouid=106032375274056022459&amp;rtpof=true&amp;sd=true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360_F_505390776_8ilykzGiVSpIjUqdEXFhDY1ACRJZPDRD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5875" y="635"/>
            <a:ext cx="12340590" cy="69538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1789</Words>
  <Application>Microsoft Office PowerPoint</Application>
  <PresentationFormat>Widescreen</PresentationFormat>
  <Paragraphs>201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Montserrat</vt:lpstr>
      <vt:lpstr>Default Design</vt:lpstr>
      <vt:lpstr>ZOMATO RESTAURANT ANALYSIS </vt:lpstr>
      <vt:lpstr>ABOUT ZOMATO</vt:lpstr>
      <vt:lpstr>PowerPoint Presentation</vt:lpstr>
      <vt:lpstr>PowerPoint Presentation</vt:lpstr>
      <vt:lpstr>Data Overview</vt:lpstr>
      <vt:lpstr>Methodology &amp; Approach</vt:lpstr>
      <vt:lpstr>     Analytical Approach and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Strategic Recommendation: Market Entry Strategy</vt:lpstr>
      <vt:lpstr>Dashboard &amp; Key Visualizations</vt:lpstr>
      <vt:lpstr> Interactive Dashboard (Google Sheets): https://docs.google.com/spreadsheets/d/1efeRLEHvsvSHCHaZdJ2bsdbmigGfJ0h0/edit?usp=sharing&amp;ouid=106032375274056022459&amp;rtpof=true&amp;sd=true  </vt:lpstr>
      <vt:lpstr>Conclusion</vt:lpstr>
      <vt:lpstr>Acknowledgements &amp;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rajeshmm</dc:creator>
  <cp:lastModifiedBy>ADMIN</cp:lastModifiedBy>
  <cp:revision>16</cp:revision>
  <dcterms:created xsi:type="dcterms:W3CDTF">2026-01-08T17:00:46Z</dcterms:created>
  <dcterms:modified xsi:type="dcterms:W3CDTF">2026-01-14T14:17:37Z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2AC6D2043839414474BE2C69AFC3F508_43</vt:lpwstr>
  </property>
  <property fmtid="{D5CDD505-2E9C-101B-9397-08002B2CF9AE}" pid="3" name="KSOProductBuildVer">
    <vt:lpwstr>1033-12.1.22531.22531</vt:lpwstr>
  </property>
</Properties>
</file>